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0" cy="6858000"/>
          </a:xfrm>
          <a:prstGeom prst="rect">
            <a:avLst/>
          </a:prstGeom>
          <a:solidFill>
            <a:srgbClr val="4361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0"/>
            <a:ext cx="4114800" cy="6858000"/>
          </a:xfrm>
          <a:prstGeom prst="rect">
            <a:avLst/>
          </a:prstGeom>
          <a:solidFill>
            <a:srgbClr val="1A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80160" y="128016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>
                <a:solidFill>
                  <a:srgbClr val="FFFFFF"/>
                </a:solidFill>
              </a:rPr>
              <a:t>Student Performance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24688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0F4FF"/>
                </a:solidFill>
              </a:rPr>
              <a:t>Predicting Student Exam Risk Using Machine Learning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3246120"/>
            <a:ext cx="11247120" cy="36576"/>
          </a:xfrm>
          <a:prstGeom prst="rect">
            <a:avLst/>
          </a:prstGeom>
          <a:solidFill>
            <a:srgbClr val="F725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80160" y="33832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CC9F0"/>
                </a:solidFill>
              </a:rPr>
              <a:t>Dataset: 1,000 Students  |  16 Features  |  Best Model: XGBoost  |  R² = 0.8613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60350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899BB"/>
                </a:solidFill>
              </a:rPr>
              <a:t>JK Lakshmipat University  |  B.Tech CSE (AI)  |  2024BTech029 – Garv Sharma</a:t>
            </a:r>
          </a:p>
        </p:txBody>
      </p:sp>
      <p:pic>
        <p:nvPicPr>
          <p:cNvPr id="9" name="Picture 8" descr="17_qr_co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18320" y="4114800"/>
            <a:ext cx="2286000" cy="22860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9418320" y="61722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0F4FF"/>
                </a:solidFill>
              </a:rPr>
              <a:t>Scan for GitHub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4361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0F4FF"/>
                </a:solidFill>
              </a:rPr>
              <a:t>What we'll cover today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5486400" cy="1143000"/>
          </a:xfrm>
          <a:prstGeom prst="rect">
            <a:avLst/>
          </a:prstGeom>
          <a:solidFill>
            <a:srgbClr val="1A2A4A"/>
          </a:solidFill>
          <a:ln>
            <a:solidFill>
              <a:srgbClr val="436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43000"/>
            <a:ext cx="548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72585"/>
                </a:solidFill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114300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</a:rPr>
              <a:t>Problem Statement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160020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0F4FF"/>
                </a:solidFill>
              </a:rPr>
              <a:t>Why student risk prediction matters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468880"/>
            <a:ext cx="5486400" cy="1143000"/>
          </a:xfrm>
          <a:prstGeom prst="rect">
            <a:avLst/>
          </a:prstGeom>
          <a:solidFill>
            <a:srgbClr val="1A2A4A"/>
          </a:solidFill>
          <a:ln>
            <a:solidFill>
              <a:srgbClr val="436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2514600"/>
            <a:ext cx="548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72585"/>
                </a:solidFill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251460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</a:rPr>
              <a:t>Dataset Overview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297180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0F4FF"/>
                </a:solidFill>
              </a:rPr>
              <a:t>1,000 students, 16 features, data quality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840480"/>
            <a:ext cx="5486400" cy="1143000"/>
          </a:xfrm>
          <a:prstGeom prst="rect">
            <a:avLst/>
          </a:prstGeom>
          <a:solidFill>
            <a:srgbClr val="1A2A4A"/>
          </a:solidFill>
          <a:ln>
            <a:solidFill>
              <a:srgbClr val="436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3886200"/>
            <a:ext cx="548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72585"/>
                </a:solidFill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" y="388620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</a:rPr>
              <a:t>Exploratory Data Analysis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" y="434340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0F4FF"/>
                </a:solidFill>
              </a:rPr>
              <a:t>Distributions, correlations, insights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5212080"/>
            <a:ext cx="5486400" cy="1143000"/>
          </a:xfrm>
          <a:prstGeom prst="rect">
            <a:avLst/>
          </a:prstGeom>
          <a:solidFill>
            <a:srgbClr val="1A2A4A"/>
          </a:solidFill>
          <a:ln>
            <a:solidFill>
              <a:srgbClr val="436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5257800"/>
            <a:ext cx="548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72585"/>
                </a:solidFill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" y="525780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</a:rPr>
              <a:t>Feature Engineering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" y="571500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0F4FF"/>
                </a:solidFill>
              </a:rPr>
              <a:t>Selecting the 6 best predictors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0" y="1097280"/>
            <a:ext cx="5486400" cy="1143000"/>
          </a:xfrm>
          <a:prstGeom prst="rect">
            <a:avLst/>
          </a:prstGeom>
          <a:solidFill>
            <a:srgbClr val="1A2A4A"/>
          </a:solidFill>
          <a:ln>
            <a:solidFill>
              <a:srgbClr val="436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92240" y="1143000"/>
            <a:ext cx="548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72585"/>
                </a:solidFill>
              </a:rPr>
              <a:t>05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114300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</a:rPr>
              <a:t>Model Training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160020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0F4FF"/>
                </a:solidFill>
              </a:rPr>
              <a:t>LR · Decision Tree · Random Forest · XGBoost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0" y="2468880"/>
            <a:ext cx="5486400" cy="1143000"/>
          </a:xfrm>
          <a:prstGeom prst="rect">
            <a:avLst/>
          </a:prstGeom>
          <a:solidFill>
            <a:srgbClr val="1A2A4A"/>
          </a:solidFill>
          <a:ln>
            <a:solidFill>
              <a:srgbClr val="436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92240" y="2514600"/>
            <a:ext cx="548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72585"/>
                </a:solidFill>
              </a:rPr>
              <a:t>06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95160" y="251460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</a:rPr>
              <a:t>Evaluation &amp; Results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95160" y="297180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0F4FF"/>
                </a:solidFill>
              </a:rPr>
              <a:t>R², RMSE, MAE, MAPE comparison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00800" y="3840480"/>
            <a:ext cx="5486400" cy="1143000"/>
          </a:xfrm>
          <a:prstGeom prst="rect">
            <a:avLst/>
          </a:prstGeom>
          <a:solidFill>
            <a:srgbClr val="1A2A4A"/>
          </a:solidFill>
          <a:ln>
            <a:solidFill>
              <a:srgbClr val="436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92240" y="3886200"/>
            <a:ext cx="548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72585"/>
                </a:solidFill>
              </a:rPr>
              <a:t>07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95160" y="388620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</a:rPr>
              <a:t>Deployment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95160" y="434340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0F4FF"/>
                </a:solidFill>
              </a:rPr>
              <a:t>Streamlit app + risk classifier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00800" y="5212080"/>
            <a:ext cx="5486400" cy="1143000"/>
          </a:xfrm>
          <a:prstGeom prst="rect">
            <a:avLst/>
          </a:prstGeom>
          <a:solidFill>
            <a:srgbClr val="1A2A4A"/>
          </a:solidFill>
          <a:ln>
            <a:solidFill>
              <a:srgbClr val="436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92240" y="5257800"/>
            <a:ext cx="548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72585"/>
                </a:solidFill>
              </a:rPr>
              <a:t>08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95160" y="525780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</a:rPr>
              <a:t>GitHub &amp; Conclusion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995160" y="571500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0F4FF"/>
                </a:solidFill>
              </a:rPr>
              <a:t>Repo, QR code, next steps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4361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0F4FF"/>
                </a:solidFill>
              </a:rPr>
              <a:t>The challenge of student academic risk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F725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005840"/>
            <a:ext cx="71323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Many students silently fall behind until it's too late for intervention.
Traditional grading systems only flag failure AFTER it happens.
Goal: Build a predictive ML model that identifies at-risk students EARLY
using daily habits and behavioural data — enabling proactive support.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0" y="1097280"/>
            <a:ext cx="3474720" cy="1097280"/>
          </a:xfrm>
          <a:prstGeom prst="rect">
            <a:avLst/>
          </a:prstGeom>
          <a:solidFill>
            <a:srgbClr val="4361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321040" y="1143000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</a:rPr>
              <a:t>1,000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21040" y="1645919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0F4FF"/>
                </a:solidFill>
              </a:rPr>
              <a:t>Students Surveyed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0" y="2423160"/>
            <a:ext cx="3474720" cy="1097280"/>
          </a:xfrm>
          <a:prstGeom prst="rect">
            <a:avLst/>
          </a:prstGeom>
          <a:solidFill>
            <a:srgbClr val="4361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21040" y="2468879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</a:rPr>
              <a:t>16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21040" y="297180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0F4FF"/>
                </a:solidFill>
              </a:rPr>
              <a:t>Features Collected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0" y="3749039"/>
            <a:ext cx="3474720" cy="1097280"/>
          </a:xfrm>
          <a:prstGeom prst="rect">
            <a:avLst/>
          </a:prstGeom>
          <a:solidFill>
            <a:srgbClr val="4361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21040" y="3794759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</a:rPr>
              <a:t>91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0" y="4297679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0F4FF"/>
                </a:solidFill>
              </a:rPr>
              <a:t>Missing Values Handled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0" y="5074920"/>
            <a:ext cx="3474720" cy="1097280"/>
          </a:xfrm>
          <a:prstGeom prst="rect">
            <a:avLst/>
          </a:prstGeom>
          <a:solidFill>
            <a:srgbClr val="4361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21040" y="5120640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40" y="5623559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0F4FF"/>
                </a:solidFill>
              </a:rPr>
              <a:t>ML Models Compared</a:t>
            </a:r>
          </a:p>
        </p:txBody>
      </p:sp>
      <p:pic>
        <p:nvPicPr>
          <p:cNvPr id="19" name="Picture 18" descr="16_pip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389120"/>
            <a:ext cx="11247120" cy="21945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4361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Dataset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0F4FF"/>
                </a:solidFill>
              </a:rPr>
              <a:t>student_habits_performance.csv — 1,000 rows × 16 columns</a:t>
            </a:r>
          </a:p>
        </p:txBody>
      </p:sp>
      <p:pic>
        <p:nvPicPr>
          <p:cNvPr id="5" name="Picture 4" descr="02_desc_sta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60120"/>
            <a:ext cx="11612880" cy="3017520"/>
          </a:xfrm>
          <a:prstGeom prst="rect">
            <a:avLst/>
          </a:prstGeom>
        </p:spPr>
      </p:pic>
      <p:pic>
        <p:nvPicPr>
          <p:cNvPr id="6" name="Picture 5" descr="01_missing_valu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4069080"/>
            <a:ext cx="5669280" cy="25603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126480" y="4069080"/>
            <a:ext cx="56692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Key Dataset Facts
• 1,000 students, 909 after cleaning
• 91 missing values → dropped rows
• 0 duplicate records
• Target: exam_score (continuous, 0–100)
• Mix of numerical &amp; categorical features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4361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Exploratory Data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0F4FF"/>
                </a:solidFill>
              </a:rPr>
              <a:t>Numerical feature distributions</a:t>
            </a:r>
          </a:p>
        </p:txBody>
      </p:sp>
      <p:pic>
        <p:nvPicPr>
          <p:cNvPr id="5" name="Picture 4" descr="03_exam_score_di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60120"/>
            <a:ext cx="5669280" cy="2834640"/>
          </a:xfrm>
          <a:prstGeom prst="rect">
            <a:avLst/>
          </a:prstGeom>
        </p:spPr>
      </p:pic>
      <p:pic>
        <p:nvPicPr>
          <p:cNvPr id="6" name="Picture 5" descr="07_cat_distribution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040" y="960120"/>
            <a:ext cx="5943600" cy="2834640"/>
          </a:xfrm>
          <a:prstGeom prst="rect">
            <a:avLst/>
          </a:prstGeom>
        </p:spPr>
      </p:pic>
      <p:pic>
        <p:nvPicPr>
          <p:cNvPr id="7" name="Picture 6" descr="08_boxplots_categoric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320" y="3840480"/>
            <a:ext cx="11612880" cy="283464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4361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EDA: Correlation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0F4FF"/>
                </a:solidFill>
              </a:rPr>
              <a:t>How features relate to exam performance</a:t>
            </a:r>
          </a:p>
        </p:txBody>
      </p:sp>
      <p:pic>
        <p:nvPicPr>
          <p:cNvPr id="5" name="Picture 4" descr="04_correlation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60120"/>
            <a:ext cx="6858000" cy="5303520"/>
          </a:xfrm>
          <a:prstGeom prst="rect">
            <a:avLst/>
          </a:prstGeom>
        </p:spPr>
      </p:pic>
      <p:pic>
        <p:nvPicPr>
          <p:cNvPr id="6" name="Picture 5" descr="05_correlation_b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0" y="960120"/>
            <a:ext cx="4572000" cy="28346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315200" y="3931920"/>
            <a:ext cx="4572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Key Findings
• study_hours_per_day: strongest +ve r
• mental_health_rating: strong +ve
• attendance_percentage: +ve impact
• social_media_hours: -ve impact
• sleep_hours: moderate +ve
• netflix_hours: mild -ve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4361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Feature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0F4FF"/>
                </a:solidFill>
              </a:rPr>
              <a:t>Scatter plots — individual feature vs exam score</a:t>
            </a:r>
          </a:p>
        </p:txBody>
      </p:sp>
      <p:pic>
        <p:nvPicPr>
          <p:cNvPr id="5" name="Picture 4" descr="06_study_vs_sco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60120"/>
            <a:ext cx="5760720" cy="2743200"/>
          </a:xfrm>
          <a:prstGeom prst="rect">
            <a:avLst/>
          </a:prstGeom>
        </p:spPr>
      </p:pic>
      <p:pic>
        <p:nvPicPr>
          <p:cNvPr id="6" name="Picture 5" descr="14_sleep_vs_sco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0" y="960120"/>
            <a:ext cx="5760720" cy="2743200"/>
          </a:xfrm>
          <a:prstGeom prst="rect">
            <a:avLst/>
          </a:prstGeom>
        </p:spPr>
      </p:pic>
      <p:pic>
        <p:nvPicPr>
          <p:cNvPr id="7" name="Picture 6" descr="15_mental_health_violi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320" y="3840480"/>
            <a:ext cx="11521440" cy="283464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4361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Feature 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0F4FF"/>
                </a:solidFill>
              </a:rPr>
              <a:t>Selecting the 6 most impactful features</a:t>
            </a:r>
          </a:p>
        </p:txBody>
      </p:sp>
      <p:pic>
        <p:nvPicPr>
          <p:cNvPr id="5" name="Picture 4" descr="09_feature_import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60120"/>
            <a:ext cx="6583680" cy="32004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7040880" y="1005840"/>
            <a:ext cx="2377440" cy="1554480"/>
          </a:xfrm>
          <a:prstGeom prst="rect">
            <a:avLst/>
          </a:prstGeom>
          <a:solidFill>
            <a:srgbClr val="4361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0" y="109728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study_hours_per_day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0" y="169164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0F4FF"/>
                </a:solidFill>
              </a:rPr>
              <a:t>Strongest predictor</a:t>
            </a:r>
          </a:p>
        </p:txBody>
      </p:sp>
      <p:sp>
        <p:nvSpPr>
          <p:cNvPr id="9" name="Rectangle 8"/>
          <p:cNvSpPr/>
          <p:nvPr/>
        </p:nvSpPr>
        <p:spPr>
          <a:xfrm>
            <a:off x="7040880" y="2788920"/>
            <a:ext cx="2377440" cy="1554480"/>
          </a:xfrm>
          <a:prstGeom prst="rect">
            <a:avLst/>
          </a:prstGeom>
          <a:solidFill>
            <a:srgbClr val="7209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32320" y="288036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mental_health_rating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0" y="347472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0F4FF"/>
                </a:solidFill>
              </a:rPr>
              <a:t>Cognitive readiness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040880" y="4572000"/>
            <a:ext cx="2377440" cy="1554480"/>
          </a:xfrm>
          <a:prstGeom prst="rect">
            <a:avLst/>
          </a:prstGeom>
          <a:solidFill>
            <a:srgbClr val="F725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132320" y="466344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attendance_percentage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32320" y="525780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0F4FF"/>
                </a:solidFill>
              </a:rPr>
              <a:t>Classroom engagement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601200" y="1005840"/>
            <a:ext cx="2377440" cy="1554480"/>
          </a:xfrm>
          <a:prstGeom prst="rect">
            <a:avLst/>
          </a:prstGeom>
          <a:solidFill>
            <a:srgbClr val="480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92640" y="109728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social_media_hours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92640" y="169164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0F4FF"/>
                </a:solidFill>
              </a:rPr>
              <a:t>Distraction factor (-)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601200" y="2788920"/>
            <a:ext cx="2377440" cy="1554480"/>
          </a:xfrm>
          <a:prstGeom prst="rect">
            <a:avLst/>
          </a:prstGeom>
          <a:solidFill>
            <a:srgbClr val="4CC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92640" y="288036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sleep_hours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92640" y="347472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0F4FF"/>
                </a:solidFill>
              </a:rPr>
              <a:t>Recovery &amp; focus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601200" y="4572000"/>
            <a:ext cx="2377440" cy="1554480"/>
          </a:xfrm>
          <a:prstGeom prst="rect">
            <a:avLst/>
          </a:prstGeom>
          <a:solidFill>
            <a:srgbClr val="2DC6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92640" y="466344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exercise_frequency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92640" y="525780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0F4FF"/>
                </a:solidFill>
              </a:rPr>
              <a:t>Physical wellbeing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74320" y="4297680"/>
            <a:ext cx="64008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Strategy: Ensemble Mixed Selection
Balanced statistical dependency + Pearson correlation
→ 6 features selected from 14 candidates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4361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Model Training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0F4FF"/>
                </a:solidFill>
              </a:rPr>
              <a:t>4 algorithms benchmarked with GridSearchCV (5-fold CV)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51560"/>
            <a:ext cx="2743200" cy="2286000"/>
          </a:xfrm>
          <a:prstGeom prst="rect">
            <a:avLst/>
          </a:prstGeom>
          <a:solidFill>
            <a:srgbClr val="4361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14300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Linear Regression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737360"/>
            <a:ext cx="2560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0F4FF"/>
                </a:solidFill>
              </a:rPr>
              <a:t>Baseline model
No hyperparameters
Fast &amp; interpretable</a:t>
            </a:r>
          </a:p>
        </p:txBody>
      </p:sp>
      <p:sp>
        <p:nvSpPr>
          <p:cNvPr id="8" name="Rectangle 7"/>
          <p:cNvSpPr/>
          <p:nvPr/>
        </p:nvSpPr>
        <p:spPr>
          <a:xfrm>
            <a:off x="3291840" y="1051560"/>
            <a:ext cx="2743200" cy="2286000"/>
          </a:xfrm>
          <a:prstGeom prst="rect">
            <a:avLst/>
          </a:prstGeom>
          <a:solidFill>
            <a:srgbClr val="7209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383280" y="114300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Decision Tree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83280" y="1737360"/>
            <a:ext cx="2560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0F4FF"/>
                </a:solidFill>
              </a:rPr>
              <a:t>max_depth: [3,5,10]
min_samples_split: [2,5]
Non-linear splits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1051560"/>
            <a:ext cx="2743200" cy="2286000"/>
          </a:xfrm>
          <a:prstGeom prst="rect">
            <a:avLst/>
          </a:prstGeom>
          <a:solidFill>
            <a:srgbClr val="F725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09360" y="114300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Random Forest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60" y="1737360"/>
            <a:ext cx="2560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0F4FF"/>
                </a:solidFill>
              </a:rPr>
              <a:t>n_estimators: [50,100]
max_depth: [5,10]
Ensemble of trees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144000" y="1051560"/>
            <a:ext cx="2743200" cy="2286000"/>
          </a:xfrm>
          <a:prstGeom prst="rect">
            <a:avLst/>
          </a:prstGeom>
          <a:solidFill>
            <a:srgbClr val="2DC6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235440" y="114300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XGBoost ★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35440" y="1737360"/>
            <a:ext cx="2560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0F4FF"/>
                </a:solidFill>
              </a:rPr>
              <a:t>Gradient boosting
Regularization
BEST PERFORMER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352044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4361EE"/>
                </a:solidFill>
              </a:rPr>
              <a:t>Training Configuration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3977639"/>
            <a:ext cx="11247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• Train/Test Split: 80% / 20%  (727 / 182 samples)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4361688"/>
            <a:ext cx="11247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• Cross-Validation: 5-Fold GridSearchCV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4745736"/>
            <a:ext cx="11247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• Optimization Metric: neg_mean_squared_error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5129783"/>
            <a:ext cx="11247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• Label Encoding applied to all categorical features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5513831"/>
            <a:ext cx="11247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• No feature scaling needed for tree-based models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4361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Model Evaluation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0F4FF"/>
                </a:solidFill>
              </a:rPr>
              <a:t>Quantitative comparison across all 4 models</a:t>
            </a:r>
          </a:p>
        </p:txBody>
      </p:sp>
      <p:pic>
        <p:nvPicPr>
          <p:cNvPr id="5" name="Picture 4" descr="10_model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60120"/>
            <a:ext cx="11612880" cy="2926080"/>
          </a:xfrm>
          <a:prstGeom prst="rect">
            <a:avLst/>
          </a:prstGeom>
        </p:spPr>
      </p:pic>
      <p:pic>
        <p:nvPicPr>
          <p:cNvPr id="6" name="Picture 5" descr="11_metrics_group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3977639"/>
            <a:ext cx="11612880" cy="269748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4361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Best Model: XGBoost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0F4FF"/>
                </a:solidFill>
              </a:rPr>
              <a:t>Actual vs Predicted &amp; Residual Analysis</a:t>
            </a:r>
          </a:p>
        </p:txBody>
      </p:sp>
      <p:pic>
        <p:nvPicPr>
          <p:cNvPr id="5" name="Picture 4" descr="12_xgb_actual_predic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60120"/>
            <a:ext cx="8229600" cy="32004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8686800" y="1051560"/>
            <a:ext cx="3200400" cy="1234440"/>
          </a:xfrm>
          <a:prstGeom prst="rect">
            <a:avLst/>
          </a:prstGeom>
          <a:solidFill>
            <a:srgbClr val="4361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778240" y="109728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0F4FF"/>
                </a:solidFill>
              </a:rPr>
              <a:t>R² Score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78240" y="1600200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</a:rPr>
              <a:t>0.8613</a:t>
            </a:r>
          </a:p>
        </p:txBody>
      </p:sp>
      <p:sp>
        <p:nvSpPr>
          <p:cNvPr id="9" name="Rectangle 8"/>
          <p:cNvSpPr/>
          <p:nvPr/>
        </p:nvSpPr>
        <p:spPr>
          <a:xfrm>
            <a:off x="8686800" y="2514600"/>
            <a:ext cx="3200400" cy="1234440"/>
          </a:xfrm>
          <a:prstGeom prst="rect">
            <a:avLst/>
          </a:prstGeom>
          <a:solidFill>
            <a:srgbClr val="4361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0" y="256032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0F4FF"/>
                </a:solidFill>
              </a:rPr>
              <a:t>MAE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78240" y="3063240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</a:rPr>
              <a:t>4.82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686800" y="3977639"/>
            <a:ext cx="3200400" cy="1234440"/>
          </a:xfrm>
          <a:prstGeom prst="rect">
            <a:avLst/>
          </a:prstGeom>
          <a:solidFill>
            <a:srgbClr val="4361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0" y="4023359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0F4FF"/>
                </a:solidFill>
              </a:rPr>
              <a:t>RMSE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0" y="4526279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</a:rPr>
              <a:t>6.21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686800" y="5440680"/>
            <a:ext cx="3200400" cy="1234440"/>
          </a:xfrm>
          <a:prstGeom prst="rect">
            <a:avLst/>
          </a:prstGeom>
          <a:solidFill>
            <a:srgbClr val="4361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778240" y="548640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0F4FF"/>
                </a:solidFill>
              </a:rPr>
              <a:t>MAPE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78240" y="5989320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</a:rPr>
              <a:t>7.84%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4361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Risk Classification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0F4FF"/>
                </a:solidFill>
              </a:rPr>
              <a:t>Post-prediction risk level assignment</a:t>
            </a:r>
          </a:p>
        </p:txBody>
      </p:sp>
      <p:pic>
        <p:nvPicPr>
          <p:cNvPr id="5" name="Picture 4" descr="13_risk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60120"/>
            <a:ext cx="5669280" cy="41148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6126480" y="1051560"/>
            <a:ext cx="5760720" cy="1234440"/>
          </a:xfrm>
          <a:prstGeom prst="rect">
            <a:avLst/>
          </a:prstGeom>
          <a:solidFill>
            <a:srgbClr val="EF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17920" y="109728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High Risk ⚠️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75520" y="109728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FFFFFF"/>
                </a:solidFill>
              </a:rPr>
              <a:t>Score &lt; 40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1645919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0F4FF"/>
                </a:solidFill>
              </a:rPr>
              <a:t>Immediate intervention required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26480" y="2468880"/>
            <a:ext cx="5760720" cy="1234440"/>
          </a:xfrm>
          <a:prstGeom prst="rect">
            <a:avLst/>
          </a:prstGeom>
          <a:solidFill>
            <a:srgbClr val="F77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17920" y="25146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Medium Risk 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75520" y="25146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FFFFFF"/>
                </a:solidFill>
              </a:rPr>
              <a:t>Score 40–60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0" y="30632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0F4FF"/>
                </a:solidFill>
              </a:rPr>
              <a:t>Needs improvement to pass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26480" y="3886200"/>
            <a:ext cx="5760720" cy="1234440"/>
          </a:xfrm>
          <a:prstGeom prst="rect">
            <a:avLst/>
          </a:prstGeom>
          <a:solidFill>
            <a:srgbClr val="4361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7920" y="393192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Low Risk 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875520" y="39319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FFFFFF"/>
                </a:solidFill>
              </a:rPr>
              <a:t>Score 60–80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0" y="448056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0F4FF"/>
                </a:solidFill>
              </a:rPr>
              <a:t>Performing well, room to grow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26480" y="5303520"/>
            <a:ext cx="5760720" cy="1234440"/>
          </a:xfrm>
          <a:prstGeom prst="rect">
            <a:avLst/>
          </a:prstGeom>
          <a:solidFill>
            <a:srgbClr val="2DC6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17920" y="534924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Excellent 🌟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875520" y="534924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FFFFFF"/>
                </a:solidFill>
              </a:rPr>
              <a:t>Score ≥ 80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7920" y="58978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0F4FF"/>
                </a:solidFill>
              </a:rPr>
              <a:t>Outstanding performance!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4361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Deployment: Streamlit App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0F4FF"/>
                </a:solidFill>
              </a:rPr>
              <a:t>Interactive prediction dashboard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2DC6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4361EE"/>
                </a:solidFill>
              </a:rPr>
              <a:t>App Features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5448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✓  Interactive sliders for all 6 input features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212848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✓  Real-time exam score prediction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871215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✓  Risk level badge (High / Medium / Low / Excellent)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529584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✓  Model info panel with feature list &amp; R² score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187952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✓  Deployed via Streamlit Cloud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8463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72585"/>
                </a:solidFill>
              </a:rPr>
              <a:t>Input Features (6)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5257800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0F4FF"/>
                </a:solidFill>
              </a:rPr>
              <a:t>→ study_hours_per_day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5641848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0F4FF"/>
                </a:solidFill>
              </a:rPr>
              <a:t>→ mental_health_rating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025896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0F4FF"/>
                </a:solidFill>
              </a:rPr>
              <a:t>→ attendance_percentage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91840" y="5257800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0F4FF"/>
                </a:solidFill>
              </a:rPr>
              <a:t>→ social_media_hours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91840" y="5641848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0F4FF"/>
                </a:solidFill>
              </a:rPr>
              <a:t>→ sleep_hours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91840" y="6025896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0F4FF"/>
                </a:solidFill>
              </a:rPr>
              <a:t>→ exercise_frequency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1051560"/>
            <a:ext cx="5394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4361EE"/>
                </a:solidFill>
              </a:rPr>
              <a:t>Saved Model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155448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• best_student_model.pkl  — XGBoost (final)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2212848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• Trained with GridSearchCV best params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2871215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• Input shape: (n, 6)  |  Output: float (score)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3529584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• Loaded via: joblib.load()</a:t>
            </a:r>
          </a:p>
        </p:txBody>
      </p:sp>
      <p:pic>
        <p:nvPicPr>
          <p:cNvPr id="24" name="Picture 23" descr="09_feature_import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3657600"/>
            <a:ext cx="5486400" cy="301752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4361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GitHub Repository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0F4FF"/>
                </a:solidFill>
              </a:rPr>
              <a:t>Access full project source code &amp; notebook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4361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17_qr_co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88720"/>
            <a:ext cx="3657600" cy="36576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489204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0F4FF"/>
                </a:solidFill>
              </a:rPr>
              <a:t>Scan to access the repo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63440" y="1051560"/>
            <a:ext cx="7223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4361EE"/>
                </a:solidFill>
              </a:rPr>
              <a:t>Repository Details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63440" y="1600200"/>
            <a:ext cx="7132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🔗  https://github.com/2024BTech029GarvSharma/ML-Student-Risk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63440" y="2286000"/>
            <a:ext cx="7132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📁  ml_project.ipynb  — Full analysis notebook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2971800"/>
            <a:ext cx="7132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📁  ml.py  — Streamlit prediction app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3657600"/>
            <a:ext cx="7132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📁  best_student_model.pkl  — Trained XGBoost model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4343400"/>
            <a:ext cx="7132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📁  student_habits_performance.csv  — Dataset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40" y="5029200"/>
            <a:ext cx="7132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📁  README.md  — Project documentation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63440" y="5577840"/>
            <a:ext cx="7223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72585"/>
                </a:solidFill>
              </a:rPr>
              <a:t>Tech Stack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63440" y="5989320"/>
            <a:ext cx="7132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0F4FF"/>
                </a:solidFill>
              </a:rPr>
              <a:t>Python · Pandas · Scikit-learn · XGBoost · Matplotlib · Seaborn · Streamlit · Joblib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4361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Conclusion &amp; Future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0F4FF"/>
                </a:solidFill>
              </a:rPr>
              <a:t>Key takeaways and next steps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51560"/>
            <a:ext cx="6858000" cy="1051560"/>
          </a:xfrm>
          <a:prstGeom prst="rect">
            <a:avLst/>
          </a:prstGeom>
          <a:solidFill>
            <a:srgbClr val="1A2A4A"/>
          </a:solidFill>
          <a:ln>
            <a:solidFill>
              <a:srgbClr val="436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097280"/>
            <a:ext cx="6583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4361EE"/>
                </a:solidFill>
              </a:rPr>
              <a:t>✅ Best Model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581912"/>
            <a:ext cx="6583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XGBoost achieved R²=0.8613, MAE=4.82 — best overall balance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2286000"/>
            <a:ext cx="6858000" cy="1051560"/>
          </a:xfrm>
          <a:prstGeom prst="rect">
            <a:avLst/>
          </a:prstGeom>
          <a:solidFill>
            <a:srgbClr val="1A2A4A"/>
          </a:solidFill>
          <a:ln>
            <a:solidFill>
              <a:srgbClr val="436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2331720"/>
            <a:ext cx="6583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4361EE"/>
                </a:solidFill>
              </a:rPr>
              <a:t>✅ Key Drivers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816352"/>
            <a:ext cx="6583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Study hours, mental health &amp; attendance drive performance most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3520440"/>
            <a:ext cx="6858000" cy="1051560"/>
          </a:xfrm>
          <a:prstGeom prst="rect">
            <a:avLst/>
          </a:prstGeom>
          <a:solidFill>
            <a:srgbClr val="1A2A4A"/>
          </a:solidFill>
          <a:ln>
            <a:solidFill>
              <a:srgbClr val="436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3566160"/>
            <a:ext cx="6583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4361EE"/>
                </a:solidFill>
              </a:rPr>
              <a:t>✅ Risk System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4050791"/>
            <a:ext cx="6583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4-tier risk classifier enables proactive student intervention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4754880"/>
            <a:ext cx="6858000" cy="1051560"/>
          </a:xfrm>
          <a:prstGeom prst="rect">
            <a:avLst/>
          </a:prstGeom>
          <a:solidFill>
            <a:srgbClr val="1A2A4A"/>
          </a:solidFill>
          <a:ln>
            <a:solidFill>
              <a:srgbClr val="436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4800600"/>
            <a:ext cx="6583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4361EE"/>
                </a:solidFill>
              </a:rPr>
              <a:t>✅ Deployment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5285232"/>
            <a:ext cx="6583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Live Streamlit app for real-time predictions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98079" y="1005840"/>
            <a:ext cx="4480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72585"/>
                </a:solidFill>
              </a:rPr>
              <a:t>Future Roadmap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98079" y="1508760"/>
            <a:ext cx="4389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→ Deep learning models (LSTM for longitudinal tracking)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79" y="2404872"/>
            <a:ext cx="4389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→ Real-time data pipeline integration with LMS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98079" y="3300984"/>
            <a:ext cx="4389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→ Expand dataset to 10,000+ students across institutions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98079" y="4197096"/>
            <a:ext cx="4389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→ Add explainability layer with SHAP values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98079" y="5093208"/>
            <a:ext cx="4389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→ Mobile app deployment for student self-assessment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0" cy="6858000"/>
          </a:xfrm>
          <a:prstGeom prst="rect">
            <a:avLst/>
          </a:prstGeom>
          <a:solidFill>
            <a:srgbClr val="4361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0"/>
            <a:ext cx="4114800" cy="6858000"/>
          </a:xfrm>
          <a:prstGeom prst="rect">
            <a:avLst/>
          </a:prstGeom>
          <a:solidFill>
            <a:srgbClr val="1A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80160" y="164592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>
                <a:solidFill>
                  <a:srgbClr val="FFFFFF"/>
                </a:solidFill>
              </a:rPr>
              <a:t>Thank You!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29260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0F4FF"/>
                </a:solidFill>
              </a:rPr>
              <a:t>Garv Sharma  |  2024BTech029  |  B.Tech CSE (AI)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35661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0F4FF"/>
                </a:solidFill>
              </a:rPr>
              <a:t>JK Lakshmipat University, Jaipur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4206240"/>
            <a:ext cx="11247120" cy="36576"/>
          </a:xfrm>
          <a:prstGeom prst="rect">
            <a:avLst/>
          </a:prstGeom>
          <a:solidFill>
            <a:srgbClr val="F725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80160" y="4343400"/>
            <a:ext cx="7772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CC9F0"/>
                </a:solidFill>
              </a:rPr>
              <a:t>github.com/2024BTech029GarvSharma/ML-Student-Risk</a:t>
            </a:r>
          </a:p>
        </p:txBody>
      </p:sp>
      <p:pic>
        <p:nvPicPr>
          <p:cNvPr id="9" name="Picture 8" descr="17_qr_co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18320" y="3931920"/>
            <a:ext cx="2468880" cy="24688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