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Exam Score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Study Hours</c:v>
                  </c:pt>
                  <c:pt idx="1">
                    <c:v>Mental Health</c:v>
                  </c:pt>
                  <c:pt idx="2">
                    <c:v>Exercise</c:v>
                  </c:pt>
                  <c:pt idx="3">
                    <c:v>Attendance</c:v>
                  </c:pt>
                  <c:pt idx="4">
                    <c:v>Sleep Hrs</c:v>
                  </c:pt>
                  <c:pt idx="5">
                    <c:v>Netflix Hrs</c:v>
                  </c:pt>
                  <c:pt idx="6">
                    <c:v>Soc. Media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0.82</c:v>
                </c:pt>
                <c:pt idx="1">
                  <c:v>0.32</c:v>
                </c:pt>
                <c:pt idx="2">
                  <c:v>0.16</c:v>
                </c:pt>
                <c:pt idx="3">
                  <c:v>0.1</c:v>
                </c:pt>
                <c:pt idx="4">
                  <c:v>0.12</c:v>
                </c:pt>
                <c:pt idx="5">
                  <c:v>-0.17</c:v>
                </c:pt>
                <c:pt idx="6">
                  <c:v>-0.17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3"/>
        </c:scaling>
        <c:delete val="0"/>
        <c:axPos val="b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Students</c:v>
                </c:pt>
              </c:strCache>
            </c:strRef>
          </c:tx>
          <c:spPr>
            <a:solidFill>
              <a:srgbClr val="7B61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20-25</c:v>
                  </c:pt>
                  <c:pt idx="1">
                    <c:v>25-30</c:v>
                  </c:pt>
                  <c:pt idx="2">
                    <c:v>30-35</c:v>
                  </c:pt>
                  <c:pt idx="3">
                    <c:v>35-40</c:v>
                  </c:pt>
                  <c:pt idx="4">
                    <c:v>40-45</c:v>
                  </c:pt>
                  <c:pt idx="5">
                    <c:v>45-50</c:v>
                  </c:pt>
                  <c:pt idx="6">
                    <c:v>50-55</c:v>
                  </c:pt>
                  <c:pt idx="7">
                    <c:v>55-60</c:v>
                  </c:pt>
                  <c:pt idx="8">
                    <c:v>60-65</c:v>
                  </c:pt>
                  <c:pt idx="9">
                    <c:v>65-70</c:v>
                  </c:pt>
                  <c:pt idx="10">
                    <c:v>70-75</c:v>
                  </c:pt>
                  <c:pt idx="11">
                    <c:v>75-80</c:v>
                  </c:pt>
                  <c:pt idx="12">
                    <c:v>80-85</c:v>
                  </c:pt>
                  <c:pt idx="13">
                    <c:v>85-90</c:v>
                  </c:pt>
                  <c:pt idx="14">
                    <c:v>90-95</c:v>
                  </c:pt>
                  <c:pt idx="15">
                    <c:v>95-100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</c:v>
                </c:pt>
                <c:pt idx="1">
                  <c:v>8</c:v>
                </c:pt>
                <c:pt idx="2">
                  <c:v>14</c:v>
                </c:pt>
                <c:pt idx="3">
                  <c:v>22</c:v>
                </c:pt>
                <c:pt idx="4">
                  <c:v>30</c:v>
                </c:pt>
                <c:pt idx="5">
                  <c:v>29</c:v>
                </c:pt>
                <c:pt idx="6">
                  <c:v>38</c:v>
                </c:pt>
                <c:pt idx="7">
                  <c:v>48</c:v>
                </c:pt>
                <c:pt idx="8">
                  <c:v>54</c:v>
                </c:pt>
                <c:pt idx="9">
                  <c:v>68</c:v>
                </c:pt>
                <c:pt idx="10">
                  <c:v>58</c:v>
                </c:pt>
                <c:pt idx="11">
                  <c:v>42</c:v>
                </c:pt>
                <c:pt idx="12">
                  <c:v>36</c:v>
                </c:pt>
                <c:pt idx="13">
                  <c:v>22</c:v>
                </c:pt>
                <c:pt idx="14">
                  <c:v>21</c:v>
                </c:pt>
                <c:pt idx="15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Exam Score Range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61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Random Forest
★ BEST</c:v>
                  </c:pt>
                  <c:pt idx="1">
                    <c:v>Linear
Regression</c:v>
                  </c:pt>
                  <c:pt idx="2">
                    <c:v>Gradient
Boosting</c:v>
                  </c:pt>
                  <c:pt idx="3">
                    <c:v>Decision
Tree</c:v>
                  </c:pt>
                  <c:pt idx="4">
                    <c:v>SVR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0.8139</c:v>
                </c:pt>
                <c:pt idx="1">
                  <c:v>0.8095</c:v>
                </c:pt>
                <c:pt idx="2">
                  <c:v>0.8065</c:v>
                </c:pt>
                <c:pt idx="3">
                  <c:v>0.5788</c:v>
                </c:pt>
                <c:pt idx="4">
                  <c:v>0.052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Rand. Forest</c:v>
                  </c:pt>
                  <c:pt idx="1">
                    <c:v>Linear Reg.</c:v>
                  </c:pt>
                  <c:pt idx="2">
                    <c:v>Grad. Boost.</c:v>
                  </c:pt>
                  <c:pt idx="3">
                    <c:v>Dec. Tree</c:v>
                  </c:pt>
                  <c:pt idx="4">
                    <c:v>SVR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7.1065</c:v>
                </c:pt>
                <c:pt idx="1">
                  <c:v>7.1909</c:v>
                </c:pt>
                <c:pt idx="2">
                  <c:v>7.2473</c:v>
                </c:pt>
                <c:pt idx="3">
                  <c:v>10.6924</c:v>
                </c:pt>
                <c:pt idx="4">
                  <c:v>16.0413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7B61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Rand. Forest</c:v>
                  </c:pt>
                  <c:pt idx="1">
                    <c:v>Linear Reg.</c:v>
                  </c:pt>
                  <c:pt idx="2">
                    <c:v>Grad. Boost.</c:v>
                  </c:pt>
                  <c:pt idx="3">
                    <c:v>Dec. Tree</c:v>
                  </c:pt>
                  <c:pt idx="4">
                    <c:v>SVR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5.6909</c:v>
                </c:pt>
                <c:pt idx="1">
                  <c:v>5.7249</c:v>
                </c:pt>
                <c:pt idx="2">
                  <c:v>5.8054</c:v>
                </c:pt>
                <c:pt idx="3">
                  <c:v>8.2665</c:v>
                </c:pt>
                <c:pt idx="4">
                  <c:v>12.9716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61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D9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study_hours_per_day</c:v>
                  </c:pt>
                  <c:pt idx="1">
                    <c:v>mental_health_rating</c:v>
                  </c:pt>
                  <c:pt idx="2">
                    <c:v>sleep_hours</c:v>
                  </c:pt>
                  <c:pt idx="3">
                    <c:v>attendance_percentage</c:v>
                  </c:pt>
                  <c:pt idx="4">
                    <c:v>part_time_job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0.726</c:v>
                </c:pt>
                <c:pt idx="1">
                  <c:v>0.129</c:v>
                </c:pt>
                <c:pt idx="2">
                  <c:v>0.076</c:v>
                </c:pt>
                <c:pt idx="3">
                  <c:v>0.061</c:v>
                </c:pt>
                <c:pt idx="4">
                  <c:v>0.008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b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Low Risk (27.6%)</c:v>
                </c:pt>
                <c:pt idx="1">
                  <c:v>Moderate Risk (44.2%)</c:v>
                </c:pt>
                <c:pt idx="2">
                  <c:v>High Risk (24.1%)</c:v>
                </c:pt>
                <c:pt idx="3">
                  <c:v>Critical Risk (4.1%)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251</c:v>
                </c:pt>
                <c:pt idx="1">
                  <c:v>402</c:v>
                </c:pt>
                <c:pt idx="2">
                  <c:v>219</c:v>
                </c:pt>
                <c:pt idx="3">
                  <c:v>37</c:v>
                </c:pt>
              </c:numCache>
            </c:numRef>
          </c:val>
        </c:ser>
        <c:firstSliceAng val="0"/>
      </c:pieChart>
      <c:spPr>
        <a:solidFill>
          <a:srgbClr val="11224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7A94B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Avg Study Hours by Risk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Study Hours/Day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 Risk</c:v>
                  </c:pt>
                  <c:pt idx="1">
                    <c:v>Moderate Risk</c:v>
                  </c:pt>
                  <c:pt idx="2">
                    <c:v>High Risk</c:v>
                  </c:pt>
                  <c:pt idx="3">
                    <c:v>Critical Risk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</c:v>
                </c:pt>
                <c:pt idx="1">
                  <c:v>3.3</c:v>
                </c:pt>
                <c:pt idx="2">
                  <c:v>2.2</c:v>
                </c:pt>
                <c:pt idx="3">
                  <c:v>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5"/>
          <c:min val="0"/>
        </c:scaling>
        <c:delete val="0"/>
        <c:axPos val="l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Risk Distribution by Job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Job</c:v>
                </c:pt>
              </c:strCache>
            </c:strRef>
          </c:tx>
          <c:spPr>
            <a:solidFill>
              <a:srgbClr val="7B61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310</c:v>
                </c:pt>
                <c:pt idx="2">
                  <c:v>155</c:v>
                </c:pt>
                <c:pt idx="3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Has Job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</c:v>
                </c:pt>
                <c:pt idx="1">
                  <c:v>92</c:v>
                </c:pt>
                <c:pt idx="2">
                  <c:v>64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Study Hours /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0.8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4.8</c:v>
                </c:pt>
                <c:pt idx="1">
                  <c:v>3.4</c:v>
                </c:pt>
                <c:pt idx="2">
                  <c:v>2.3</c:v>
                </c:pt>
                <c:pt idx="3">
                  <c:v>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Max</c:v>
                </c:pt>
              </c:strCache>
            </c:strRef>
          </c:tx>
          <c:spPr>
            <a:solidFill>
              <a:srgbClr val="7B61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</c:v>
                </c:pt>
                <c:pt idx="1">
                  <c:v>6.5</c:v>
                </c:pt>
                <c:pt idx="2">
                  <c:v>4.5</c:v>
                </c:pt>
                <c:pt idx="3">
                  <c:v>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Attendance Percentage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55</c:v>
                </c:pt>
                <c:pt idx="2">
                  <c:v>50</c:v>
                </c:pt>
                <c:pt idx="3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87</c:v>
                </c:pt>
                <c:pt idx="1">
                  <c:v>84</c:v>
                </c:pt>
                <c:pt idx="2">
                  <c:v>83</c:v>
                </c:pt>
                <c:pt idx="3">
                  <c:v>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Max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Sleep Hours / Night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3.5</c:v>
                </c:pt>
                <c:pt idx="3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10D9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6.5</c:v>
                </c:pt>
                <c:pt idx="2">
                  <c:v>6.3</c:v>
                </c:pt>
                <c:pt idx="3">
                  <c:v>6.4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Max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9.8</c:v>
                </c:pt>
                <c:pt idx="1">
                  <c:v>9.5</c:v>
                </c:pt>
                <c:pt idx="2">
                  <c:v>9.5</c:v>
                </c:pt>
                <c:pt idx="3">
                  <c:v>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C8FF">
              <a:alpha val="8000"/>
            </a:srgbClr>
          </a:solidFill>
          <a:ln w="12700">
            <a:solidFill>
              <a:srgbClr val="00C8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6576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8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65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41248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Habits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Academic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11480" y="312724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ML Regression &amp; Risk Classification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639312"/>
            <a:ext cx="4114800" cy="36576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  •  Linear Regression  •  Decision Tree  •  Random Forest  •  Gradient Boosting  •  SVR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 Sharma   |   1,000 Students   |   16 Features   |   scikit-learn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0" y="1371600"/>
            <a:ext cx="1463040" cy="20116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0" y="1371600"/>
            <a:ext cx="146304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81.39%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49808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MODEL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3657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4023360" cy="37490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4864" cy="37490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This Matter?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fail not from lack of ability, but from poor habits and lack of early intervention.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need a data-driven system to: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students early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which lifestyle factors drive academic outcomes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support resources efficiently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before it's too late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868680"/>
            <a:ext cx="4297680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68680"/>
            <a:ext cx="54864" cy="109728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96012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00C8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960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GOAL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09160" y="12801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exam scores (0–100) from student lifestyle data using regression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4297680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103120"/>
            <a:ext cx="54864" cy="109728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219456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7B61F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1945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 GOAL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09160" y="25146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students into risk levels for proactive early intervention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37560"/>
            <a:ext cx="4297680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337560"/>
            <a:ext cx="54864" cy="1097280"/>
          </a:xfrm>
          <a:prstGeom prst="rect">
            <a:avLst/>
          </a:prstGeom>
          <a:solidFill>
            <a:srgbClr val="10D9A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342900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0D9A8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4290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VARIABLE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709160" y="37490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 — continuous float (0 to 100)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Types: Regression (continuous prediction) + Classification (risk bucketing)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920240" cy="118872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192024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1920240" cy="118872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822960"/>
            <a:ext cx="192024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822960"/>
            <a:ext cx="1920240" cy="118872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822960"/>
            <a:ext cx="1920240" cy="54864"/>
          </a:xfrm>
          <a:prstGeom prst="rect">
            <a:avLst/>
          </a:prstGeom>
          <a:solidFill>
            <a:srgbClr val="10D9A8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822960"/>
            <a:ext cx="1920240" cy="118872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82296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6656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176272"/>
            <a:ext cx="5303520" cy="26060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267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5 SELECTED FEATURES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96896"/>
          <a:ext cx="5074920" cy="201168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214884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study_hours_per_day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9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study hours (0–8+)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attendance_percentage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9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attendance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mental_health_rating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9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Self-rated 1–10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9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sleep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part_time_job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9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(1) / No (0)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852160" y="2176272"/>
            <a:ext cx="2971800" cy="26060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52160" y="2176272"/>
            <a:ext cx="2971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0" y="22860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0" y="257860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exam_score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943600" y="3035808"/>
            <a:ext cx="2743200" cy="27432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28" name="Text 25"/>
          <p:cNvSpPr/>
          <p:nvPr/>
        </p:nvSpPr>
        <p:spPr>
          <a:xfrm>
            <a:off x="5989320" y="30358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15200" y="30358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943600" y="3364992"/>
            <a:ext cx="2743200" cy="27432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1" name="Text 28"/>
          <p:cNvSpPr/>
          <p:nvPr/>
        </p:nvSpPr>
        <p:spPr>
          <a:xfrm>
            <a:off x="5989320" y="33649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15200" y="33649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943600" y="3694176"/>
            <a:ext cx="2743200" cy="27432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4" name="Text 31"/>
          <p:cNvSpPr/>
          <p:nvPr/>
        </p:nvSpPr>
        <p:spPr>
          <a:xfrm>
            <a:off x="5989320" y="36941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315200" y="36941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~61.4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943600" y="4023360"/>
            <a:ext cx="2743200" cy="27432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7" name="Text 34"/>
          <p:cNvSpPr/>
          <p:nvPr/>
        </p:nvSpPr>
        <p:spPr>
          <a:xfrm>
            <a:off x="5989320" y="4023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315200" y="4023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~63.2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943600" y="4352544"/>
            <a:ext cx="2743200" cy="27432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40" name="Text 37"/>
          <p:cNvSpPr/>
          <p:nvPr/>
        </p:nvSpPr>
        <p:spPr>
          <a:xfrm>
            <a:off x="5989320" y="4352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315200" y="4352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~18.5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D9A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06040" cy="18288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60604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429768" y="1005840"/>
            <a:ext cx="502920" cy="502920"/>
          </a:xfrm>
          <a:prstGeom prst="ellipse">
            <a:avLst/>
          </a:prstGeom>
          <a:solidFill>
            <a:srgbClr val="00C8FF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005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61848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 with pandas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verified: 1,000 × 16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691640"/>
            <a:ext cx="228600" cy="36576"/>
          </a:xfrm>
          <a:prstGeom prst="rect">
            <a:avLst/>
          </a:prstGeom>
          <a:solidFill>
            <a:srgbClr val="00C8FF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868680"/>
            <a:ext cx="2606040" cy="18288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68680"/>
            <a:ext cx="260604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64408" y="1005840"/>
            <a:ext cx="502920" cy="502920"/>
          </a:xfrm>
          <a:prstGeom prst="ellipse">
            <a:avLst/>
          </a:prstGeom>
          <a:solidFill>
            <a:srgbClr val="7B61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1005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161848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parental_education_level: &lt; 1% missing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Drop rows (preserves integrity)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1691640"/>
            <a:ext cx="228600" cy="36576"/>
          </a:xfrm>
          <a:prstGeom prst="rect">
            <a:avLst/>
          </a:prstGeom>
          <a:solidFill>
            <a:srgbClr val="7B61FF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89320" y="868680"/>
            <a:ext cx="2606040" cy="18288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868680"/>
            <a:ext cx="2606040" cy="54864"/>
          </a:xfrm>
          <a:prstGeom prst="rect">
            <a:avLst/>
          </a:prstGeom>
          <a:solidFill>
            <a:srgbClr val="10D9A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9048" y="1005840"/>
            <a:ext cx="502920" cy="502920"/>
          </a:xfrm>
          <a:prstGeom prst="ellipse">
            <a:avLst/>
          </a:prstGeom>
          <a:solidFill>
            <a:srgbClr val="10D9A8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099048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1005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9048" y="161848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 selected via EDA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+ scatter plot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898648"/>
            <a:ext cx="2606040" cy="18288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98648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" y="3035808"/>
            <a:ext cx="502920" cy="502920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 Categorical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" y="3648456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part_time_job: Yes→1, No→0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for binary variable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26080" y="3721608"/>
            <a:ext cx="22860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154680" y="2898648"/>
            <a:ext cx="2606040" cy="18288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2898648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Shape 31"/>
          <p:cNvSpPr/>
          <p:nvPr/>
        </p:nvSpPr>
        <p:spPr>
          <a:xfrm>
            <a:off x="3264408" y="3035808"/>
            <a:ext cx="502920" cy="502920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264408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86200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64408" y="3648456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(~800) / 20% test (~200)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for reproducibility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0" y="3721608"/>
            <a:ext cx="228600" cy="36576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89320" y="2898648"/>
            <a:ext cx="2606040" cy="18288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89320" y="2898648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0" name="Shape 38"/>
          <p:cNvSpPr/>
          <p:nvPr/>
        </p:nvSpPr>
        <p:spPr>
          <a:xfrm>
            <a:off x="6099048" y="3035808"/>
            <a:ext cx="502920" cy="502920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099048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20840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99048" y="3648456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algorithms on identical split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consistent comparison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470916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0E1E35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feature scaling applied — tree-based models are scale-invariant; SVR's poor performance partly reflects this deliberate omission.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Correlation Analysis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22960"/>
          <a:ext cx="53035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22960"/>
            <a:ext cx="2971800" cy="38862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822960"/>
            <a:ext cx="29718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93268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43600" y="1307592"/>
            <a:ext cx="320040" cy="320040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307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130759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Hours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55080" y="148132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— r = 0.82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1856232"/>
            <a:ext cx="320040" cy="320040"/>
          </a:xfrm>
          <a:prstGeom prst="ellipse">
            <a:avLst/>
          </a:prstGeom>
          <a:solidFill>
            <a:srgbClr val="00C8FF">
              <a:alpha val="2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185623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Mental Health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55080" y="202996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link — r = 0.32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2404872"/>
            <a:ext cx="320040" cy="320040"/>
          </a:xfrm>
          <a:prstGeom prst="ellipse">
            <a:avLst/>
          </a:prstGeom>
          <a:solidFill>
            <a:srgbClr val="00C8FF">
              <a:alpha val="2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2404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55080" y="240487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55080" y="257860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influence — r = 0.10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43600" y="2953512"/>
            <a:ext cx="320040" cy="320040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29535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55080" y="295351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31272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impact — r = −0.17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43600" y="3502152"/>
            <a:ext cx="320040" cy="320040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0" y="3502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55080" y="350215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Netflix Hours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55080" y="367588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impact — r = −0.17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943600" y="4050792"/>
            <a:ext cx="320040" cy="320040"/>
          </a:xfrm>
          <a:prstGeom prst="ellipse">
            <a:avLst/>
          </a:prstGeom>
          <a:solidFill>
            <a:srgbClr val="10D9A8">
              <a:alpha val="2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0" y="4050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55080" y="405079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Multi-collinearity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355080" y="422452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independent — good for model stability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 Score Distribution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2296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822960"/>
            <a:ext cx="2606040" cy="37490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822960"/>
            <a:ext cx="260604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9326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STATISTICS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09360" y="12618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18.4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309360" y="16459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Score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09360" y="19019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100.0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309360" y="22860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Score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25420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69.6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309360" y="29260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09360" y="31821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70.4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309360" y="356616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Score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38221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16.9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309360" y="42062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≈ Median → Low skew. Wide spread (18–100) ideal for regression — enough variance for models to learn.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 Evaluated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regression algorithms trained on identical train/test splits for a fair, consistent comparison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6766560" cy="7132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71323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17043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00C8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PARAMETRIC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y = β₀+β₁x₁+…+βₙxₙ via OLS. Fast, interpretable, linear only.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78040" y="1097280"/>
            <a:ext cx="1645920" cy="713232"/>
          </a:xfrm>
          <a:prstGeom prst="rect">
            <a:avLst/>
          </a:prstGeom>
          <a:solidFill>
            <a:srgbClr val="00C8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1170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0.8095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8040" y="1481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901952"/>
            <a:ext cx="6766560" cy="7132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01952"/>
            <a:ext cx="54864" cy="71323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1975104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7B61F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7510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NON-PARAM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22311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1993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 partitioning (MSE). Single tree — prone to overfitting.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1901952"/>
            <a:ext cx="1645920" cy="713232"/>
          </a:xfrm>
          <a:prstGeom prst="rect">
            <a:avLst/>
          </a:prstGeom>
          <a:solidFill>
            <a:srgbClr val="7B61FF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19751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0.5788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2286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57.88%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706624"/>
            <a:ext cx="6766560" cy="7132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706624"/>
            <a:ext cx="54864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2779776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22C55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77977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★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" y="3035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20240" y="27980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bagged Decision Trees with random feature subsets. Averages predictions.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2706624"/>
            <a:ext cx="1645920" cy="713232"/>
          </a:xfrm>
          <a:prstGeom prst="rect">
            <a:avLst/>
          </a:prstGeom>
          <a:solidFill>
            <a:srgbClr val="22C55E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27797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0.8139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30906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81.39%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27249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3511296"/>
            <a:ext cx="6766560" cy="7132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511296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584448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58444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0292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920240" y="36027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shallow trees; each corrects residuals of previous. Strong regularization.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78040" y="3511296"/>
            <a:ext cx="1645920" cy="713232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178040" y="3584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0.8065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78040" y="38953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80.65%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4315968"/>
            <a:ext cx="6766560" cy="7132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4315968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Shape 42"/>
          <p:cNvSpPr/>
          <p:nvPr/>
        </p:nvSpPr>
        <p:spPr>
          <a:xfrm>
            <a:off x="502920" y="438912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3891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KERNEL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2920" y="4645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SVR (RBF kernel)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920240" y="44074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ε-insensitive tube hyperplane with RBF kernel. Requires scaling (not applied).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78040" y="4315968"/>
            <a:ext cx="1645920" cy="71323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17804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0.0520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178040" y="47000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01 — Linear Regression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23360" cy="40233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4023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 =  β₀  +  β₁x₁  +  β₂x₂  + … +  βₙxₙ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Minimization: </a:t>
            </a:r>
            <a:pPr indent="0" marL="0"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Σ(yᵢ − ŷᵢ)² to find optimal β coefficients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interpretable, very fast. Works well when features have a linear relationship with target.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capture non-linear patterns. Sensitive to outliers and multicollinearity.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Despite its simplicity, LR performs nearly as well as Random Forest on this dataset — suggesting strong linear relationships in the 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777240"/>
            <a:ext cx="4251960" cy="40233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777240"/>
            <a:ext cx="425196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8869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METRICS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261872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350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0.8095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14264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066544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1396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359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7.1909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22311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avg error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2871216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163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5.7249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3035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avg error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3675888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968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51.7096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5800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units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4535424"/>
            <a:ext cx="3977640" cy="182880"/>
          </a:xfrm>
          <a:prstGeom prst="rect">
            <a:avLst/>
          </a:prstGeom>
          <a:solidFill>
            <a:srgbClr val="00C8FF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453542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Accuracy: 80.95%  (2nd Best Model)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02 — Decision Tree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23360" cy="40233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40233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Criterion:  Minimise MSE at each node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0" y="1938528"/>
            <a:ext cx="1188720" cy="365760"/>
          </a:xfrm>
          <a:prstGeom prst="ellipse">
            <a:avLst/>
          </a:prstGeom>
          <a:solidFill>
            <a:srgbClr val="7B61FF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study_hrs &gt; 4?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2304288"/>
            <a:ext cx="0" cy="365760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2304288"/>
            <a:ext cx="0" cy="365760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304288"/>
            <a:ext cx="0" cy="365760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304288"/>
            <a:ext cx="914400" cy="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670048"/>
            <a:ext cx="914400" cy="365760"/>
          </a:xfrm>
          <a:prstGeom prst="ellipse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6700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423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74520" y="2670048"/>
            <a:ext cx="914400" cy="36576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874520" y="26700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77440" y="2423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18211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Non-linear, interpretable, handles mixed types, no scaling needed.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overfitting (high variance). Small data changes → very different trees.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777240"/>
            <a:ext cx="4251960" cy="40233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777240"/>
            <a:ext cx="425196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8869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METRICS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261872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3350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0.5788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58000" y="14264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57.88%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2066544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1396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359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10.6924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58000" y="22311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avg error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2871216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8.2665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58000" y="3035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avg error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09160" y="3675888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114.3283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5800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units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09160" y="4535424"/>
            <a:ext cx="3977640" cy="18288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453542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Overfitting Problem — Weakest Valid Model (4th Place)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22C55E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137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BEST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03 — Random Forest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023360" cy="40233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54864" cy="4023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 =  Average(Tree₁, Tree₂, …, Tree₁₀₀)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901952"/>
            <a:ext cx="548640" cy="320040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01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2057400"/>
            <a:ext cx="1371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1901952"/>
            <a:ext cx="548640" cy="320040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1901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2057400"/>
            <a:ext cx="1371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1901952"/>
            <a:ext cx="548640" cy="320040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1901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057400"/>
            <a:ext cx="1371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1901952"/>
            <a:ext cx="548640" cy="320040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1901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057400"/>
            <a:ext cx="1371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1901952"/>
            <a:ext cx="548640" cy="320040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1901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T₁₀₀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2221992"/>
            <a:ext cx="0" cy="22860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450592"/>
            <a:ext cx="1371600" cy="365760"/>
          </a:xfrm>
          <a:prstGeom prst="ellipse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24505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2944368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trained on a random bootstrap sample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Features: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features at each split — decorrelates trees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generalization, robust, feature importance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interpretable, memory-intensive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777240"/>
            <a:ext cx="4251960" cy="40233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777240"/>
            <a:ext cx="42519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8869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METRICS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1261872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3350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0.8139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58000" y="14264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81.39%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9160" y="2066544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1396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2359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7.1065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58000" y="22311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avg error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09160" y="2871216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5.6909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858000" y="3035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avg error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709160" y="3675888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50.5023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85800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units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709160" y="4535424"/>
            <a:ext cx="3977640" cy="182880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709160" y="453542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Accuracy: 81.39%  |  n_estimators = 100  |  random_state = 42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04 — Gradient Boosting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23360" cy="40233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4023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F₀(x) + η·h₁(x) + η·h₂(x) + 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777240" cy="5029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0195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94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00200" y="1901952"/>
            <a:ext cx="777240" cy="502920"/>
          </a:xfrm>
          <a:prstGeom prst="rect">
            <a:avLst/>
          </a:prstGeom>
          <a:solidFill>
            <a:srgbClr val="7A94B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190195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T₁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7744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94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1901952"/>
            <a:ext cx="777240" cy="5029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90195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fits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94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03320" y="1901952"/>
            <a:ext cx="777240" cy="502920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190195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…+T₁₀₀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514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learning rate (scales each tree's contribution)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88036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accuracy, handles non-linearity, built-in regularization via η and max_depth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training, sensitive to hyper-parameters, can overfit on noisy data without proper tuning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777240"/>
            <a:ext cx="4251960" cy="40233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777240"/>
            <a:ext cx="4251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8869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METRICS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261872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3350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0.8065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58000" y="14264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80.65%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2066544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1396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359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7.2473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58000" y="22311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avg error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2871216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5.8054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58000" y="3035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avg error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09160" y="3675888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52.5233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5800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units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09160" y="4535424"/>
            <a:ext cx="3977640" cy="1828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453542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3rd Place — Tuning learning_rate &amp; max_depth could surpass Random Forest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05 — SVR (RBF Kernel)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23360" cy="40233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4023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K(x,xᵢ) = exp(−γ||x − xᵢ||²)  [RBF Kernel]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ε-insensitive tube: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inside tube incur zero loss; outside get linear penalty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data into higher-dimensional space to capture non-linearity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 high dimensions, robust to outliers via ε-tube, flexible kernels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FEATURE SCALING — not applied here. Results are essentially meaningless without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251960" cy="40233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777240"/>
            <a:ext cx="4251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8869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METRICS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261872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350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0.0520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14264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066544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396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359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16.0413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22311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avg error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2871216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12.9716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0" y="3035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avg error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3675888"/>
            <a:ext cx="3977640" cy="64008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257.3231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5800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units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4434840"/>
            <a:ext cx="3977640" cy="320040"/>
          </a:xfrm>
          <a:prstGeom prst="roundRect">
            <a:avLst>
              <a:gd name="adj" fmla="val 14286"/>
            </a:avLst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44348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Fix: Apply StandardScaler before training — expected R² &gt; 0.75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Score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in exam scores explained by each model (higher = better)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05840"/>
          <a:ext cx="8503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626864"/>
            <a:ext cx="1600200" cy="411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7" name="Shape 4"/>
          <p:cNvSpPr/>
          <p:nvPr/>
        </p:nvSpPr>
        <p:spPr>
          <a:xfrm>
            <a:off x="320040" y="4626864"/>
            <a:ext cx="16002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6908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0040" y="4864608"/>
            <a:ext cx="1600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0.8139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39112" y="4626864"/>
            <a:ext cx="1600200" cy="411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8"/>
          <p:cNvSpPr/>
          <p:nvPr/>
        </p:nvSpPr>
        <p:spPr>
          <a:xfrm>
            <a:off x="2039112" y="4626864"/>
            <a:ext cx="1600200" cy="457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2" name="Text 9"/>
          <p:cNvSpPr/>
          <p:nvPr/>
        </p:nvSpPr>
        <p:spPr>
          <a:xfrm>
            <a:off x="2039112" y="46908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039112" y="4864608"/>
            <a:ext cx="1600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0.8095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58184" y="4626864"/>
            <a:ext cx="1600200" cy="411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2"/>
          <p:cNvSpPr/>
          <p:nvPr/>
        </p:nvSpPr>
        <p:spPr>
          <a:xfrm>
            <a:off x="3758184" y="4626864"/>
            <a:ext cx="1600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3758184" y="46908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758184" y="4864608"/>
            <a:ext cx="1600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0.8065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77256" y="4626864"/>
            <a:ext cx="1600200" cy="411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Shape 16"/>
          <p:cNvSpPr/>
          <p:nvPr/>
        </p:nvSpPr>
        <p:spPr>
          <a:xfrm>
            <a:off x="5477256" y="4626864"/>
            <a:ext cx="1600200" cy="457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0" name="Text 17"/>
          <p:cNvSpPr/>
          <p:nvPr/>
        </p:nvSpPr>
        <p:spPr>
          <a:xfrm>
            <a:off x="5477256" y="46908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77256" y="4864608"/>
            <a:ext cx="1600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0.5788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96328" y="4626864"/>
            <a:ext cx="1600200" cy="411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3" name="Shape 20"/>
          <p:cNvSpPr/>
          <p:nvPr/>
        </p:nvSpPr>
        <p:spPr>
          <a:xfrm>
            <a:off x="7196328" y="4626864"/>
            <a:ext cx="1600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1"/>
          <p:cNvSpPr/>
          <p:nvPr/>
        </p:nvSpPr>
        <p:spPr>
          <a:xfrm>
            <a:off x="7196328" y="46908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(unscaled)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96328" y="4864608"/>
            <a:ext cx="1600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0.0520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 &amp; MAE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— error in exam score points. RMSE penalises large errors more than MAE.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05840"/>
          <a:ext cx="8503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66344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0E1E35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the lowest RMSE (7.11) and MAE (5.69) — on average, predictions are within ~7 score points of the actual exam result.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D9A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Metrics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models ranked by R² — a single glance tells the whole story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8503920" cy="3200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097280"/>
                <a:gridCol w="1097280"/>
                <a:gridCol w="118872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MSE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RMSE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R²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Accuracy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★ Random Forest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B6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 (unscaled)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0A0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370832"/>
            <a:ext cx="1965960" cy="59436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7" name="Text 4"/>
          <p:cNvSpPr/>
          <p:nvPr/>
        </p:nvSpPr>
        <p:spPr>
          <a:xfrm>
            <a:off x="393192" y="4416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3192" y="46085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squared error — penalizes large mistakes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68880" y="4370832"/>
            <a:ext cx="1965960" cy="59436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10" name="Text 7"/>
          <p:cNvSpPr/>
          <p:nvPr/>
        </p:nvSpPr>
        <p:spPr>
          <a:xfrm>
            <a:off x="2542032" y="4416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42032" y="46085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score-point units — easier to interpret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4370832"/>
            <a:ext cx="1965960" cy="59436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13" name="Text 10"/>
          <p:cNvSpPr/>
          <p:nvPr/>
        </p:nvSpPr>
        <p:spPr>
          <a:xfrm>
            <a:off x="4690872" y="4416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90872" y="46085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absolute error — robust to outliers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766560" y="4370832"/>
            <a:ext cx="1965960" cy="59436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16" name="Text 13"/>
          <p:cNvSpPr/>
          <p:nvPr/>
        </p:nvSpPr>
        <p:spPr>
          <a:xfrm>
            <a:off x="6839712" y="4416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39712" y="46085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variance explained (1 = perfect model)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Random Forest — how much each feature reduces prediction error (mean decrease in impurity)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6012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33872" y="960120"/>
            <a:ext cx="2990088" cy="36576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33872" y="960120"/>
            <a:ext cx="2990088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8" name="Text 5"/>
          <p:cNvSpPr/>
          <p:nvPr/>
        </p:nvSpPr>
        <p:spPr>
          <a:xfrm>
            <a:off x="5925312" y="1069848"/>
            <a:ext cx="280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61888" y="1399032"/>
            <a:ext cx="384048" cy="384048"/>
          </a:xfrm>
          <a:prstGeom prst="ellipse">
            <a:avLst/>
          </a:prstGeom>
          <a:solidFill>
            <a:srgbClr val="00C8FF">
              <a:alpha val="2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961888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37376" y="13990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Hours / Day  (72.6%)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37376" y="1600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predictor. Increasing study time directly translates to higher scores.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61888" y="2057400"/>
            <a:ext cx="384048" cy="384048"/>
          </a:xfrm>
          <a:prstGeom prst="ellipse">
            <a:avLst/>
          </a:prstGeom>
          <a:solidFill>
            <a:srgbClr val="7B61FF">
              <a:alpha val="2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961888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37376" y="2057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Mental Health Rating  (12.9%)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37376" y="22585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Underscores that well-being and exam performance are closely linked.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61888" y="2715768"/>
            <a:ext cx="384048" cy="384048"/>
          </a:xfrm>
          <a:prstGeom prst="ellipse">
            <a:avLst/>
          </a:prstGeom>
          <a:solidFill>
            <a:srgbClr val="10D9A8">
              <a:alpha val="2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961888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37376" y="27157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Sleep Hours  (7.6%)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37376" y="29169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sleep supports memory consolidation and cognitive performance.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61888" y="3374136"/>
            <a:ext cx="384048" cy="384048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961888" y="3374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37376" y="33741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%  (6.1%)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37376" y="35753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class presence reinforces learning and exam readiness.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61888" y="4032504"/>
            <a:ext cx="384048" cy="384048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961888" y="4032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37376" y="40325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Part-Time Job  (0.8%)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37376" y="42336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impactful — students can manage jobs if study habits are strong.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0040" y="4709160"/>
            <a:ext cx="5257800" cy="292608"/>
          </a:xfrm>
          <a:prstGeom prst="roundRect">
            <a:avLst>
              <a:gd name="adj" fmla="val 15625"/>
            </a:avLst>
          </a:prstGeom>
          <a:solidFill>
            <a:srgbClr val="0E1E35"/>
          </a:solidFill>
          <a:ln/>
        </p:spPr>
      </p:sp>
      <p:sp>
        <p:nvSpPr>
          <p:cNvPr id="30" name="Text 27"/>
          <p:cNvSpPr/>
          <p:nvPr/>
        </p:nvSpPr>
        <p:spPr>
          <a:xfrm>
            <a:off x="411480" y="470916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alone accounts for 72.6% of feature importance — the single greatest lever for improving student outcomes.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Random Forest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06040" cy="11430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926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0.8139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variance explained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606040" cy="11430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60604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96926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7.11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00400" y="162763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81051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point error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606040" cy="11430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22960"/>
            <a:ext cx="2606040" cy="54864"/>
          </a:xfrm>
          <a:prstGeom prst="rect">
            <a:avLst/>
          </a:prstGeom>
          <a:solidFill>
            <a:srgbClr val="10D9A8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96926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5.69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080760" y="162763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81051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accurate on average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176272"/>
            <a:ext cx="4114800" cy="126187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176272"/>
            <a:ext cx="54864" cy="12618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2860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Averaging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2615184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— each sees a different random data sample. Averaging cancels out individual tree errors.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176272"/>
            <a:ext cx="4114800" cy="126187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176272"/>
            <a:ext cx="54864" cy="126187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2860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Decorrelation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2615184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feature subsets at each split ensure trees are independent — reducing correlated errors.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3593592"/>
            <a:ext cx="4114800" cy="126187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593592"/>
            <a:ext cx="54864" cy="126187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7033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Bias–Variance Balance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4032504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high variance of single trees while maintaining low bias. Sweet spot for this dataset.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593592"/>
            <a:ext cx="4114800" cy="126187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593592"/>
            <a:ext cx="54864" cy="12618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7033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 to Noise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4032504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from 100 trees makes predictions stable — outlier data points can't dominate.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Level Classification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raw exam score predictions into actionable intervention categories for educators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669280" cy="8229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124712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22C55E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247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RISK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11680" y="11247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≥ 80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4721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— excelling academically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4721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celebrate progress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5669280" cy="8229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1168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084832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F59E0B">
              <a:alpha val="2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08483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 RISK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11680" y="20848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≤ Score &lt; 80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4323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adequately but needs monitoring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24323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regularly, study tips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5669280" cy="8229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71800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044952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F97316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0449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11680" y="30449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 ≤ Score &lt; 60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3924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— active intervention needed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60520" y="33924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&amp; tutoring support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931920"/>
            <a:ext cx="5669280" cy="82296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931920"/>
            <a:ext cx="64008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4005072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F4444">
              <a:alpha val="2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0050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RISK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011680" y="40050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&lt; 40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3525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— requires urgent support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43525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escalation &amp; support plan</a:t>
            </a:r>
            <a:endParaRPr lang="en-US" sz="10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144768" y="960120"/>
          <a:ext cx="2743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— Deeper Insights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2296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822960"/>
          <a:ext cx="4160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069080"/>
            <a:ext cx="2697480" cy="89611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4069080"/>
            <a:ext cx="269748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41605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 hrs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11480" y="45079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students study on average — nearly 5× Critical Risk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27832" y="4069080"/>
            <a:ext cx="2697480" cy="89611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27832" y="4069080"/>
            <a:ext cx="2697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8"/>
          <p:cNvSpPr/>
          <p:nvPr/>
        </p:nvSpPr>
        <p:spPr>
          <a:xfrm>
            <a:off x="3227832" y="41605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44.2%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319272" y="45079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group is Moderate Risk — the biggest opportunity for intervention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35624" y="4069080"/>
            <a:ext cx="2697480" cy="89611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35624" y="4069080"/>
            <a:ext cx="2697480" cy="457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6" name="Text 12"/>
          <p:cNvSpPr/>
          <p:nvPr/>
        </p:nvSpPr>
        <p:spPr>
          <a:xfrm>
            <a:off x="6135624" y="41605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OK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227064" y="45079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job impact is manageable if study habits are strong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D9A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by Risk Level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summary — Low Risk students consistently show higher study hours, better attendance, and healthier sleep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60120"/>
          <a:ext cx="2743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246120" y="960120"/>
          <a:ext cx="2743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6172200" y="960120"/>
          <a:ext cx="2743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320040" y="4297680"/>
            <a:ext cx="8503920" cy="713232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/>
        </p:spPr>
      </p:sp>
      <p:sp>
        <p:nvSpPr>
          <p:cNvPr id="9" name="Text 4"/>
          <p:cNvSpPr/>
          <p:nvPr/>
        </p:nvSpPr>
        <p:spPr>
          <a:xfrm>
            <a:off x="457200" y="43159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students study ~4.8 hrs/day vs 1.2 hrs for Critical Risk — a 4× gap. Attendance median is surprisingly similar across groups (~83–87%), suggesting study time is the dominant differentiator. Sleep differences are moderate but consistently favour Low Risk students.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416052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20624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869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256032" cy="256032"/>
          </a:xfrm>
          <a:prstGeom prst="ellipse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16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2984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best — R² = 0.8139, RMSE = 7.11, 81.39%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11096"/>
            <a:ext cx="256032" cy="256032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11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8928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(72.6% importance) is the #1 predictor — the single most impactful lever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256032" cy="256032"/>
          </a:xfrm>
          <a:prstGeom prst="ellipse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05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487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28.2% of students are High/Critical Risk — urgent intervention opportunity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99816"/>
            <a:ext cx="256032" cy="256032"/>
          </a:xfrm>
          <a:prstGeom prst="ellipse">
            <a:avLst/>
          </a:prstGeom>
          <a:solidFill>
            <a:srgbClr val="7B61FF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998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30815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overfits badly (R²=0.58) — ensemble methods cure this problem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256032" cy="256032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94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67588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is useless without feature scaling — preprocessing is model-specific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88536"/>
            <a:ext cx="256032" cy="256032"/>
          </a:xfrm>
          <a:prstGeom prst="ellipse">
            <a:avLst/>
          </a:prstGeom>
          <a:solidFill>
            <a:srgbClr val="10D9A8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88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42702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+ Study Hours together explain the bulk of exam score variance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777240"/>
            <a:ext cx="4069080" cy="416052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777240"/>
            <a:ext cx="4069080" cy="54864"/>
          </a:xfrm>
          <a:prstGeom prst="rect">
            <a:avLst/>
          </a:prstGeom>
          <a:solidFill>
            <a:srgbClr val="10D9A8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88696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 FOR EDUCATORS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1261872"/>
            <a:ext cx="3840480" cy="77724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1261872"/>
            <a:ext cx="54864" cy="7772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33502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Hour Tracking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160934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daily study-hour logging via an app or journal — nudge students below 3 hrs/day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2176272"/>
            <a:ext cx="3840480" cy="77724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2176272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224942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Alerts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52374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students below 60% attendance for academic counselling automatically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090672"/>
            <a:ext cx="3840480" cy="77724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3090672"/>
            <a:ext cx="54864" cy="77724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316382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Mental Health Check-ins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343814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self-reported mental health surveys — connect at-risk students to campus resources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4005072"/>
            <a:ext cx="3840480" cy="777240"/>
          </a:xfrm>
          <a:prstGeom prst="rect">
            <a:avLst/>
          </a:prstGeom>
          <a:solidFill>
            <a:srgbClr val="0E1E35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320" y="4005072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407822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the RF Model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435254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Random Forest for real-time risk scoring each semester — early warning dashboard for faculty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0C8FF">
              <a:alpha val="5000"/>
            </a:srgbClr>
          </a:solidFill>
          <a:ln w="6350">
            <a:solidFill>
              <a:srgbClr val="00C8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7B61FF">
              <a:alpha val="7000"/>
            </a:srgbClr>
          </a:solidFill>
          <a:ln w="6350">
            <a:solidFill>
              <a:srgbClr val="7B61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spc="400" kern="0" dirty="0">
                <a:solidFill>
                  <a:srgbClr val="7A94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</a:t>
            </a:r>
            <a:endParaRPr lang="en-US" sz="5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Success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572000" cy="36576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demonstrates that ensemble tree methods — particularly Random Forest (R² = 0.8139) — provide the most reliable predictions of student exam performance using only 5 behavioural features. Combined with the 4-tier risk framework, educators can proactively identify at-risk students and intervene before it's too late.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1188720"/>
            <a:ext cx="1965960" cy="301752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0" y="1188720"/>
            <a:ext cx="19659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29844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MODEL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0" y="15727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</a:t>
            </a:r>
            <a:endParaRPr lang="en-US" sz="2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03720" y="23042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26680" y="23042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0.8139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27432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26680" y="2743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7.11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31821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26680" y="31821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D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5.69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62102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26680" y="36210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81.39%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31596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Habits &amp; Performance Dataset  •  1,000 Records  •  16 Features  •  scikit-learn 1.7.1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Author: Garv Sharma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Model Performance Analysis — Student Habits &amp; Academic Performance</dc:title>
  <dc:subject>PptxGenJS Presentation</dc:subject>
  <dc:creator>Garv Sharma</dc:creator>
  <cp:lastModifiedBy>Garv Sharma</cp:lastModifiedBy>
  <cp:revision>1</cp:revision>
  <dcterms:created xsi:type="dcterms:W3CDTF">2026-04-14T18:36:18Z</dcterms:created>
  <dcterms:modified xsi:type="dcterms:W3CDTF">2026-04-14T18:36:18Z</dcterms:modified>
</cp:coreProperties>
</file>